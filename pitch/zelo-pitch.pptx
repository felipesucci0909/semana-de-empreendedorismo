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[0:00–0:15] Pausa de 1 segundo antes de falar. 'Quatro vezes. Foi quantas vezes a família que entrevistamos precisou faltar ao trabalho, em um só mês, para levar os avós ao médico.' Pergunte: 'Quem aqui já saiu do trabalho para levar um pai ou um avô a uma consulta?' e espere as mãos subirem.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[0:15–0:40] O problema não é só o transporte. São três dores juntas: (1) a família se reveza num grupo de WhatsApp e alguém sempre falta ao trabalho; (2) o idoso não pode ir de Uber sozinho, porque o motorista não desce, não ajuda e não espera; (3) mesmo quando vai, sai da consulta sem entender o remédio ou o retorno. Quando ninguém pode ir, a família paga cerca de R$ 300 por dia a alguém de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[0:40–1:00] Quem sofre é o idoso; quem paga é o filho de 35 a 60 anos que trabalha. O Brasil tem 32,1 milhões de pessoas com 60 anos ou mais, segundo o Censo 2022 do IBGE. A conta do mercado é uma hipótese explícita: se 1% desses idosos usar o Zelo uma vez por mês, com tíquete de R$ 260, são cerca de R$ 1 bilhão por ano em serviços. Começamos por São Paulo.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[1:00–1:25] Apresento o Zelo. A Zélia é uma assistente com IA, no app e no WhatsApp. 1) A família ou o próprio idoso pede a consulta conversando. 2) Monta o dia: acompanhante Zelo, que é profissional de enfermagem, com carro por aplicativo ou com motorista Zelo. 3) Acompanha cada etapa ao vivo e recebe o registro: o que o médico disse, remédios e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[1:25–2:00] DEMO. Não é só tela: o protótipo funciona e a Zélia usa IA de verdade. Mostre os três momentos: o pacote com preço montado na hora, o acompanhamento ao vivo, com a família vendo cada etapa que a acompanhante marca, e o registro da consulta. Convide: 'Apontem a câmera para o QR e testem agora, sem baixar nada.' Se der tempo, alterne para a demo ao vivo em 'Lado a lado'.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[2:00–2:15] Por que ninguém resolveu? Cada alternativa cobre só um pedaço. O app de corrida leva, mas não ajuda nem acompanha. O cuidador avulso acompanha, mas é caro, informal e sem registro. O app do convênio agenda, mas o idoso não consegue usar. O Zelo junta tudo, com parceiros certificados: COREN ativo, antecedentes verificados e treinamento.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[2:15–2:35] Como ganhamos dinheiro: o serviço é pago por atendimento e o Zelo fica com cerca de 21% depois de pagar a acompanhante, o carro, impostos e IA. Em um atendimento de R$ 275, sobram cerca de R$ 58. Três planos: Grátis, com taxa de R$ 15 por atendimento; Zelo+, por R$ 29,90 ao mês, sem taxa; e Zelo Empresas: a empresa paga R$ 5 por funcionário ao mês, como benefício, porque cada falta para levar os pais custa caro para ela também. Essa mensalidade é o que paga a estrutura: com ela, o Zelo fica no azul no ano 2 (detalhes no apêndice).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[2:35–2:50] O que já temos e o que vamos testar, com métrica. Já validado: a dor e os preços de referência, na entrevista com a família; a direção, com a mentoria; e um protótipo funcionando, com IA, que vocês podem testar agora. Próximos testes: preço com 10 famílias, adesão de técnicos de enfermagem ao repasse, interesse de 3 RHs e 5 agendamentos reais feitos à mão.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[2:50–3:00] Frase final, devagar e olhando para a banca: 'Ninguém deveria ter que escolher entre o trabalho e o cuidado com os pais.' Depois: 'Zelo: a Zélia cuida do caminho, a família acompanha tudo.' Termine com o pedido: 3 empresas para o piloto do Zelo Empresas. Agradeça e 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APÊNDICE, para perguntas: como garantimos a qualidade dos parceiros.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APÊNDICE: DRE de 3 anos. Ano 1 é investimento: cerca de R$ 370 mil negativos. No ano 2 o EBIT fica positivo e no ano 3 chega a R$ 2,2 milhões, pagando o investimento ainda no ano 3. O motor é o Zelo Empresas: R$ 5 por funcionário ao mês, receita recorrente quase sem custo. Sem ele, o negócio ficaria no vermelho nos três anos, com margem de cerca de R$ 58 por atendimento. Por isso o piloto pede 3 empresas. Se perguntarem: 45 mil funcionários cobertos no ano 3 equivalem a 90 empresas de 500 pessoas; 5% deles usando por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APÊNDICE: visão de futuro no WhatsApp. Deixe claro que é uma simulação; o código do webhook existe, mas a integração oficial é o próximo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9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274076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BFE3E1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PESQUISA DE CAMPO · 5 DE OUTUBRO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43443"/>
            <a:ext cx="17792700" cy="3571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125"/>
              </a:lnSpc>
            </a:pPr>
            <a:r>
              <a:rPr b="0" sz="22500" kern="100" spc="-900">
                <a:solidFill>
                  <a:srgbClr val="F0A27E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4 vezes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6093753"/>
            <a:ext cx="13820775" cy="20785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184"/>
              </a:lnSpc>
            </a:pPr>
            <a:r>
              <a:rPr b="0" sz="4800" kern="100" spc="-72">
                <a:solidFill>
                  <a:srgbClr val="FFFFFF"/>
                </a:solidFill>
                <a:latin typeface="Lexend Medium"/>
                <a:ea typeface="Lexend Medium"/>
                <a:cs typeface="Lexend Medium"/>
                <a:sym typeface="Lexend Medium"/>
              </a:rPr>
              <a:t>em um único mês, uma família que entrevistamos precisou </a:t>
            </a:r>
            <a:r>
              <a:rPr b="0" sz="4800" kern="100" spc="-72">
                <a:solidFill>
                  <a:srgbClr val="F0A27E"/>
                </a:solidFill>
                <a:latin typeface="Lexend Medium"/>
                <a:ea typeface="Lexend Medium"/>
                <a:cs typeface="Lexend Medium"/>
                <a:sym typeface="Lexend Medium"/>
              </a:rPr>
              <a:t>faltar ao trabalho</a:t>
            </a:r>
            <a:r>
              <a:rPr b="0" sz="4800" kern="100" spc="-72">
                <a:solidFill>
                  <a:srgbClr val="FFFFFF"/>
                </a:solidFill>
                <a:latin typeface="Lexend Medium"/>
                <a:ea typeface="Lexend Medium"/>
                <a:cs typeface="Lexend Medium"/>
                <a:sym typeface="Lexend Medium"/>
              </a:rPr>
              <a:t> para levar os avós ao médico.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" name="Picture 6" descr="r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9CC9C5"/>
                </a:solidFill>
                <a:latin typeface="Source Sans 3"/>
                <a:ea typeface="Source Sans 3"/>
                <a:cs typeface="Source Sans 3"/>
                <a:sym typeface="Source Sans 3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43558"/>
            <a:ext cx="177927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Levar um idoso ao médico virou um quebra-cabeça.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623096"/>
            <a:ext cx="5156150" cy="3068836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485900" y="2965996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r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3108871"/>
            <a:ext cx="32385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85900" y="3694049"/>
            <a:ext cx="510788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Ninguém disponível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4221913"/>
            <a:ext cx="4479875" cy="10915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família se reveza no grupo de WhatsApp. Alguém sempre falta ao trabalho.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850" y="2623096"/>
            <a:ext cx="5156150" cy="3068836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908750" y="2965996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1" name="Picture 10" descr="r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625" y="3108871"/>
            <a:ext cx="323850" cy="323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8750" y="3694049"/>
            <a:ext cx="510788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Uber não 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8750" y="4221913"/>
            <a:ext cx="4479875" cy="10915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"O motorista precisa descer, ajudar a entrar e estacionar perto." Não dá para mandar sozinha.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88701" y="2623096"/>
            <a:ext cx="5156150" cy="3068836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331601" y="2965996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r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4476" y="3108871"/>
            <a:ext cx="323850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31601" y="3694049"/>
            <a:ext cx="510788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Sai sem entender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31601" y="4221913"/>
            <a:ext cx="4479875" cy="10915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Remédio, retorno, o que levar: a informação se perde entre a consulta e a família.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9163425"/>
            <a:ext cx="17792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2"/>
              </a:lnSpc>
            </a:pPr>
            <a:r>
              <a:rPr b="0" sz="157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Quando ninguém da família pode ir: </a:t>
            </a:r>
            <a:r>
              <a:rPr b="1" sz="157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~R$ 300 por dia</a:t>
            </a:r>
            <a:r>
              <a:rPr b="0" sz="157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alguém de confiança. Fonte: entrevista de campo com família cuidadora, 5/10/2026.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2" name="Picture 21" descr="r1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QUEM TEM O PROBLEMA E QUANTO VALE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229892"/>
            <a:ext cx="8120955" cy="3642271"/>
          </a:xfrm>
          <a:prstGeom prst="roundRect">
            <a:avLst>
              <a:gd name="adj" fmla="val 7322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562100" y="2402294"/>
            <a:ext cx="8201531" cy="1790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62"/>
              </a:lnSpc>
            </a:pPr>
            <a:r>
              <a:rPr b="0" sz="11250" kern="100">
                <a:solidFill>
                  <a:srgbClr val="0B6B7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32,1 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100" y="4212387"/>
            <a:ext cx="7292280" cy="7981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60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 brasileiros têm 60 anos ou mais: 15,6% da população.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00" y="5114574"/>
            <a:ext cx="8201531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Fonte: IBGE, Censo Demográfico 2022.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6138862"/>
            <a:ext cx="3927128" cy="2537371"/>
          </a:xfrm>
          <a:prstGeom prst="roundRect">
            <a:avLst>
              <a:gd name="adj" fmla="val 10510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495425" y="6491288"/>
            <a:ext cx="1299865" cy="419100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 w="19050">
            <a:solidFill>
              <a:srgbClr val="D3E2E0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57350" y="6535102"/>
            <a:ext cx="1264116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QUEM 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7038365"/>
            <a:ext cx="3755961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 idoso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" y="7566230"/>
            <a:ext cx="3250853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Mobilidade reduzida, pouca intimidade com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6828" y="6138862"/>
            <a:ext cx="3927128" cy="2537371"/>
          </a:xfrm>
          <a:prstGeom prst="roundRect">
            <a:avLst>
              <a:gd name="adj" fmla="val 10510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89253" y="6491288"/>
            <a:ext cx="1413421" cy="419100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 w="19050">
            <a:solidFill>
              <a:srgbClr val="D3E2E0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51178" y="6535102"/>
            <a:ext cx="1389028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QUEM PAGA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79728" y="7038365"/>
            <a:ext cx="3755961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 filho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9728" y="7566230"/>
            <a:ext cx="3250853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35 a 60 anos, trabalha e coordena o cuidado.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97355" y="3012728"/>
            <a:ext cx="2544217" cy="438150"/>
          </a:xfrm>
          <a:prstGeom prst="roundRect">
            <a:avLst>
              <a:gd name="adj" fmla="val 50000"/>
            </a:avLst>
          </a:prstGeom>
          <a:solidFill>
            <a:srgbClr val="FBF0D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968805" y="3066068"/>
            <a:ext cx="2611948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8A5A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HIPÓTESE DE MERCADO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97355" y="3717578"/>
            <a:ext cx="7347645" cy="4175671"/>
          </a:xfrm>
          <a:prstGeom prst="roundRect">
            <a:avLst>
              <a:gd name="adj" fmla="val 6386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216455" y="4085433"/>
            <a:ext cx="6518970" cy="809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50"/>
              </a:lnSpc>
            </a:pPr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32,1 mi idosos × </a:t>
            </a:r>
            <a:r>
              <a:rPr b="1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1%</a:t>
            </a:r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adoção</a:t>
            </a:r>
            <a:br/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× 1 atendimento/mês × </a:t>
            </a:r>
            <a:r>
              <a:rPr b="1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R$ 260</a:t>
            </a:r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 ×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16455" y="4969925"/>
            <a:ext cx="7350889" cy="142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0"/>
              </a:lnSpc>
            </a:pPr>
            <a:r>
              <a:rPr b="0" sz="9000" kern="100">
                <a:solidFill>
                  <a:srgbClr val="B453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≈ R$ 1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6455" y="6503031"/>
            <a:ext cx="7350889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por ano em serviços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6455" y="7105781"/>
            <a:ext cx="7350889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0" sz="18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Cabeça de praia: cidade de São Paulo, consultas de rotina.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6" name="Picture 25" descr="r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324529"/>
            <a:ext cx="13431113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88789"/>
            <a:ext cx="12046446" cy="14324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28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 </a:t>
            </a:r>
            <a:r>
              <a:rPr b="0" sz="4800" kern="100" spc="-72">
                <a:solidFill>
                  <a:srgbClr val="B453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Zélia</a:t>
            </a: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marca a consulta e cuida de todo o caminho até lá.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497115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7270" y="5071436"/>
            <a:ext cx="86106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000"/>
              </a:lnSpc>
            </a:pPr>
            <a:r>
              <a:rPr b="1" sz="2400" kern="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937210"/>
            <a:ext cx="846641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Pede à Zélia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250" y="5362033"/>
            <a:ext cx="846641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Conversa no app ou no WhatsApp: convênio, especialidade, horário.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6075908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7270" y="6176187"/>
            <a:ext cx="86106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000"/>
              </a:lnSpc>
            </a:pPr>
            <a:r>
              <a:rPr b="1" sz="2400" kern="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6041961"/>
            <a:ext cx="7635419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Monta o 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6466784"/>
            <a:ext cx="763541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Acompanhante Zelo + carro por aplicativo, ou motorista Zelo.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7180659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17270" y="7280939"/>
            <a:ext cx="86106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000"/>
              </a:lnSpc>
            </a:pPr>
            <a:r>
              <a:rPr b="1" sz="2400" kern="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250" y="7146712"/>
            <a:ext cx="7160657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Acompanha e recebe o registro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250" y="7571536"/>
            <a:ext cx="7160657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Cada etapa ao vivo e o resumo da consulta para a família.</a:t>
            </a:r>
          </a:p>
        </p:txBody>
      </p:sp>
      <p:pic>
        <p:nvPicPr>
          <p:cNvPr id="16" name="Picture 15" descr="app-chat-med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821" y="514350"/>
            <a:ext cx="5336679" cy="9334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9" name="Picture 18" descr="r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PROTÓTIPO FUNCIONANDO · COM IA REAL</a:t>
            </a:r>
          </a:p>
        </p:txBody>
      </p:sp>
      <p:pic>
        <p:nvPicPr>
          <p:cNvPr id="3" name="Picture 2" descr="app-pac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17228"/>
            <a:ext cx="4984700" cy="857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89820" y="8638002"/>
            <a:ext cx="1935004" cy="3526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76"/>
              </a:lnSpc>
            </a:pPr>
            <a:r>
              <a:rPr b="0" sz="19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Monta o pacote</a:t>
            </a:r>
          </a:p>
        </p:txBody>
      </p:sp>
      <p:pic>
        <p:nvPicPr>
          <p:cNvPr id="5" name="Picture 4" descr="app-acompan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00" y="917228"/>
            <a:ext cx="4976812" cy="857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9957" y="8638002"/>
            <a:ext cx="2411730" cy="3526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76"/>
              </a:lnSpc>
            </a:pPr>
            <a:r>
              <a:rPr b="0" sz="19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Acompanha ao vivo</a:t>
            </a:r>
          </a:p>
        </p:txBody>
      </p:sp>
      <p:pic>
        <p:nvPicPr>
          <p:cNvPr id="7" name="Picture 6" descr="app-regis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013" y="917228"/>
            <a:ext cx="4976812" cy="8572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05106" y="8638002"/>
            <a:ext cx="2142589" cy="3526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76"/>
              </a:lnSpc>
            </a:pPr>
            <a:r>
              <a:rPr b="0" sz="19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Recebe o registro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755463" y="3088928"/>
            <a:ext cx="3143250" cy="31432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r4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7863" y="3241328"/>
            <a:ext cx="2838450" cy="2838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951992" y="6388731"/>
            <a:ext cx="4750341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Teste agora no seu celular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20396" y="6953381"/>
            <a:ext cx="4813533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563"/>
              </a:lnSpc>
            </a:pPr>
            <a:r>
              <a:rPr b="0" sz="18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Sem baixar nada · Android também tem APK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66871" y="7476625"/>
            <a:ext cx="252043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9"/>
              </a:lnSpc>
            </a:pPr>
            <a:r>
              <a:rPr b="1" sz="1650" kern="100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zeloapp-mu.vercel.app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r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43558"/>
            <a:ext cx="177927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Cada alternativa resolve só um pedaço.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508796"/>
            <a:ext cx="16002000" cy="4838700"/>
          </a:xfrm>
          <a:prstGeom prst="roundRect">
            <a:avLst>
              <a:gd name="adj" fmla="val 5511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" name="Round Single Corner Rectangle 4"/>
          <p:cNvSpPr/>
          <p:nvPr/>
        </p:nvSpPr>
        <p:spPr>
          <a:xfrm rot="16200000">
            <a:off x="3311872" y="339923"/>
            <a:ext cx="762000" cy="5099745"/>
          </a:xfrm>
          <a:prstGeom prst="round1Rect">
            <a:avLst>
              <a:gd name="adj" fmla="val 35000"/>
            </a:avLst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43000" y="3251746"/>
            <a:ext cx="5099745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242745" y="2508796"/>
            <a:ext cx="2650778" cy="762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242745" y="3251746"/>
            <a:ext cx="2650778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87371" y="2706516"/>
            <a:ext cx="2561526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531"/>
              </a:lnSpc>
            </a:pPr>
            <a:r>
              <a:rPr b="0" sz="2025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App de corrida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3522" y="2508796"/>
            <a:ext cx="2854523" cy="762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893522" y="3251746"/>
            <a:ext cx="2854523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27961" y="2706516"/>
            <a:ext cx="2785646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531"/>
              </a:lnSpc>
            </a:pPr>
            <a:r>
              <a:rPr b="0" sz="2025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Cuidador avulso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48046" y="2508796"/>
            <a:ext cx="2908250" cy="762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748046" y="3251746"/>
            <a:ext cx="290825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779798" y="2706516"/>
            <a:ext cx="2844745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531"/>
              </a:lnSpc>
            </a:pPr>
            <a:r>
              <a:rPr b="0" sz="2025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App do convênio</a:t>
            </a:r>
          </a:p>
        </p:txBody>
      </p:sp>
      <p:sp>
        <p:nvSpPr>
          <p:cNvPr id="16" name="Round Single Corner Rectangle 15"/>
          <p:cNvSpPr/>
          <p:nvPr/>
        </p:nvSpPr>
        <p:spPr>
          <a:xfrm>
            <a:off x="14656296" y="2508796"/>
            <a:ext cx="2488704" cy="762000"/>
          </a:xfrm>
          <a:prstGeom prst="round1Rect">
            <a:avLst>
              <a:gd name="adj" fmla="val 35000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4656296" y="3251746"/>
            <a:ext cx="2488704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709026" y="2706516"/>
            <a:ext cx="2383244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531"/>
              </a:lnSpc>
            </a:pPr>
            <a:r>
              <a:rPr b="0" sz="2025" kern="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4070896"/>
            <a:ext cx="5099745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90650" y="3435007"/>
            <a:ext cx="525538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Agenda conversando, sem app difícil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2745" y="4070896"/>
            <a:ext cx="2650778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87371" y="3435007"/>
            <a:ext cx="256152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3522" y="4070896"/>
            <a:ext cx="2854523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27961" y="3435007"/>
            <a:ext cx="278564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748046" y="4070896"/>
            <a:ext cx="290825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779798" y="3435007"/>
            <a:ext cx="284474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8A5A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difícil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56296" y="3270796"/>
            <a:ext cx="2488704" cy="819150"/>
          </a:xfrm>
          <a:prstGeom prst="rect">
            <a:avLst/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4656296" y="4070896"/>
            <a:ext cx="2488704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709026" y="3435007"/>
            <a:ext cx="2383244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4890046"/>
            <a:ext cx="5099745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90650" y="4254157"/>
            <a:ext cx="525538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Ajuda a entrar e sair do carro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2745" y="4890046"/>
            <a:ext cx="2650778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87371" y="4254157"/>
            <a:ext cx="256152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3522" y="4890046"/>
            <a:ext cx="2854523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27961" y="4254157"/>
            <a:ext cx="278564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748046" y="4890046"/>
            <a:ext cx="290825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779798" y="4254157"/>
            <a:ext cx="284474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56296" y="4089946"/>
            <a:ext cx="2488704" cy="819150"/>
          </a:xfrm>
          <a:prstGeom prst="rect">
            <a:avLst/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4656296" y="4890046"/>
            <a:ext cx="2488704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4709026" y="4254157"/>
            <a:ext cx="2383244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5709196"/>
            <a:ext cx="5099745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390650" y="5073307"/>
            <a:ext cx="525538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Acompanha dentro da consulta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2745" y="5709196"/>
            <a:ext cx="2650778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87371" y="5073307"/>
            <a:ext cx="256152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3522" y="5709196"/>
            <a:ext cx="2854523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927961" y="5073307"/>
            <a:ext cx="278564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748046" y="5709196"/>
            <a:ext cx="290825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779798" y="5073307"/>
            <a:ext cx="284474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56296" y="4909096"/>
            <a:ext cx="2488704" cy="819150"/>
          </a:xfrm>
          <a:prstGeom prst="rect">
            <a:avLst/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4656296" y="5709196"/>
            <a:ext cx="2488704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4709026" y="5073307"/>
            <a:ext cx="2383244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6528346"/>
            <a:ext cx="5099745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390650" y="5892457"/>
            <a:ext cx="525538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Registro para a família, ao vivo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42745" y="6528346"/>
            <a:ext cx="2650778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287371" y="5892457"/>
            <a:ext cx="256152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93522" y="6528346"/>
            <a:ext cx="2854523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927961" y="5892457"/>
            <a:ext cx="278564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748046" y="6528346"/>
            <a:ext cx="290825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1779798" y="5892457"/>
            <a:ext cx="284474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656296" y="5728246"/>
            <a:ext cx="2488704" cy="819150"/>
          </a:xfrm>
          <a:prstGeom prst="rect">
            <a:avLst/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4656296" y="6528346"/>
            <a:ext cx="2488704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4709026" y="5892457"/>
            <a:ext cx="2383244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90650" y="6711607"/>
            <a:ext cx="525538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Profissional verificado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87371" y="6711607"/>
            <a:ext cx="256152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8A5A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motorista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27961" y="6711607"/>
            <a:ext cx="2785646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informal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779798" y="6711607"/>
            <a:ext cx="284474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0" sz="2100" kern="100">
                <a:solidFill>
                  <a:srgbClr val="9AAEAC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</a:p>
        </p:txBody>
      </p:sp>
      <p:sp>
        <p:nvSpPr>
          <p:cNvPr id="67" name="Round Single Corner Rectangle 66"/>
          <p:cNvSpPr/>
          <p:nvPr/>
        </p:nvSpPr>
        <p:spPr>
          <a:xfrm rot="5400000">
            <a:off x="15500598" y="5703094"/>
            <a:ext cx="800100" cy="2488704"/>
          </a:xfrm>
          <a:prstGeom prst="round1Rect">
            <a:avLst>
              <a:gd name="adj" fmla="val 33333"/>
            </a:avLst>
          </a:prstGeom>
          <a:solidFill>
            <a:srgbClr val="DCEF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4709026" y="6711607"/>
            <a:ext cx="2383244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990"/>
              </a:lnSpc>
            </a:pPr>
            <a:r>
              <a:rPr b="1" sz="2100" kern="100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COREN + treino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1" name="Picture 70" descr="r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COMO O ZELO GANHA DINHEIRO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43558"/>
            <a:ext cx="177927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Serviço pago por atendimento + planos.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508796"/>
            <a:ext cx="5156150" cy="258693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495425" y="2861221"/>
            <a:ext cx="993725" cy="419100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 w="19050">
            <a:solidFill>
              <a:srgbClr val="D3E2E0"/>
            </a:solidFill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57350" y="2905036"/>
            <a:ext cx="927363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GRÁTIS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3364941"/>
            <a:ext cx="5107885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12"/>
              </a:lnSpc>
            </a:pPr>
            <a:r>
              <a:rPr b="0" sz="34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R$ 0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3985723"/>
            <a:ext cx="44798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Zélia agenda e acompanha. Taxa de </a:t>
            </a:r>
            <a:r>
              <a:rPr b="1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R$ 15</a:t>
            </a: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 por atendimento.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6800" y="2489746"/>
            <a:ext cx="5194250" cy="2625030"/>
          </a:xfrm>
          <a:prstGeom prst="roundRect">
            <a:avLst>
              <a:gd name="adj" fmla="val 10885"/>
            </a:avLst>
          </a:prstGeom>
          <a:solidFill>
            <a:srgbClr val="FFFFFF"/>
          </a:solidFill>
          <a:ln w="38100">
            <a:solidFill>
              <a:srgbClr val="B4532A"/>
            </a:solidFill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908750" y="2851696"/>
            <a:ext cx="930325" cy="438150"/>
          </a:xfrm>
          <a:prstGeom prst="roundRect">
            <a:avLst>
              <a:gd name="adj" fmla="val 50000"/>
            </a:avLst>
          </a:prstGeom>
          <a:solidFill>
            <a:srgbClr val="FBE9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80200" y="2905036"/>
            <a:ext cx="836667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B4532A"/>
                </a:solidFill>
                <a:latin typeface="Source Sans 3"/>
                <a:ea typeface="Source Sans 3"/>
                <a:cs typeface="Source Sans 3"/>
                <a:sym typeface="Source Sans 3"/>
              </a:rPr>
              <a:t>ZELO+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8750" y="3364941"/>
            <a:ext cx="5107885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12"/>
              </a:lnSpc>
            </a:pPr>
            <a:r>
              <a:rPr b="0" sz="34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R$ 29,90 </a:t>
            </a:r>
            <a:r>
              <a:rPr b="0" sz="1800" kern="100">
                <a:solidFill>
                  <a:srgbClr val="4A6261"/>
                </a:solidFill>
                <a:latin typeface="Lexend Medium"/>
                <a:ea typeface="Lexend Medium"/>
                <a:cs typeface="Lexend Medium"/>
                <a:sym typeface="Lexend Medium"/>
              </a:rPr>
              <a:t>/mês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8750" y="3985723"/>
            <a:ext cx="44798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Sem taxa, família toda conectada, áudio da consulta.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88701" y="2508796"/>
            <a:ext cx="5156150" cy="258693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331601" y="2851696"/>
            <a:ext cx="1864519" cy="438150"/>
          </a:xfrm>
          <a:prstGeom prst="roundRect">
            <a:avLst>
              <a:gd name="adj" fmla="val 50000"/>
            </a:avLst>
          </a:prstGeom>
          <a:solidFill>
            <a:srgbClr val="D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503051" y="2905036"/>
            <a:ext cx="1864281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ZELO EMPRESAS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31601" y="3364941"/>
            <a:ext cx="5107885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12"/>
              </a:lnSpc>
            </a:pPr>
            <a:r>
              <a:rPr b="0" sz="34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R$ 5 </a:t>
            </a:r>
            <a:r>
              <a:rPr b="0" sz="1800" kern="100">
                <a:solidFill>
                  <a:srgbClr val="4A6261"/>
                </a:solidFill>
                <a:latin typeface="Lexend Medium"/>
                <a:ea typeface="Lexend Medium"/>
                <a:cs typeface="Lexend Medium"/>
                <a:sym typeface="Lexend Medium"/>
              </a:rPr>
              <a:t>/funcionário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31601" y="3985723"/>
            <a:ext cx="44798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empresa paga por todos; quem cuida dos pais usa sem taxa.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438626"/>
            <a:ext cx="16002000" cy="1171575"/>
          </a:xfrm>
          <a:prstGeom prst="roundRect">
            <a:avLst>
              <a:gd name="adj" fmla="val 2276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85900" y="5771049"/>
            <a:ext cx="1850693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04"/>
              </a:lnSpc>
            </a:pPr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Família paga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4716" y="5743198"/>
            <a:ext cx="1722016" cy="523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25"/>
              </a:lnSpc>
            </a:pPr>
            <a:r>
              <a:rPr b="1" sz="330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R$ 275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6553" y="5653129"/>
            <a:ext cx="630391" cy="6000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699"/>
              </a:lnSpc>
            </a:pPr>
            <a:r>
              <a:rPr b="0" sz="33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6004" y="5771049"/>
            <a:ext cx="6524149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04"/>
              </a:lnSpc>
            </a:pPr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acompanhante, carro, pagamento, impostos e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3417" y="5653129"/>
            <a:ext cx="630391" cy="6000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699"/>
              </a:lnSpc>
            </a:pPr>
            <a:r>
              <a:rPr b="0" sz="33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92868" y="5771049"/>
            <a:ext cx="2175004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04"/>
              </a:lnSpc>
            </a:pPr>
            <a:r>
              <a:rPr b="0" sz="225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fica para o Zelo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06512" y="5743198"/>
            <a:ext cx="2912849" cy="523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25"/>
              </a:lnSpc>
            </a:pPr>
            <a:r>
              <a:rPr b="1" sz="3300" kern="100">
                <a:solidFill>
                  <a:srgbClr val="1D7A4B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R$ 58 (21%)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9163425"/>
            <a:ext cx="17792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2"/>
              </a:lnSpc>
            </a:pPr>
            <a:r>
              <a:rPr b="0" sz="157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Premissas a validar: acompanhante R$ 180 (até 4h), carro por app ~R$ 60, repasse de 75% ao parceiro. Detalhes na planilha de EBIT (apêndice).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0" name="Picture 29" descr="r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EVIDÊNCIAS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43558"/>
            <a:ext cx="177927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 que já validamos e o que vamos medir.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546896"/>
            <a:ext cx="7867650" cy="4476155"/>
          </a:xfrm>
          <a:prstGeom prst="roundRect">
            <a:avLst>
              <a:gd name="adj" fmla="val 5958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485900" y="2889796"/>
            <a:ext cx="1560016" cy="438150"/>
          </a:xfrm>
          <a:prstGeom prst="roundRect">
            <a:avLst>
              <a:gd name="adj" fmla="val 50000"/>
            </a:avLst>
          </a:prstGeom>
          <a:solidFill>
            <a:srgbClr val="D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57350" y="2943136"/>
            <a:ext cx="1529328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JÁ VALIDADO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5900" y="351844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D7A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43100" y="3425482"/>
            <a:ext cx="498935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Dor real: ~4 faltas ao trabalho em 1 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3100" y="3803100"/>
            <a:ext cx="4989359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Entrevista com família cuidadora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5900" y="436602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D7A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100" y="4273058"/>
            <a:ext cx="693293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Preço de referência: R$ 300/dia (cuidador) e R$ 80 (app)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4650676"/>
            <a:ext cx="693293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Mesma entrevista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5900" y="521359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D7A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943100" y="5120634"/>
            <a:ext cx="666117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Foco em simplicidade e parceria com apps de corrida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5498253"/>
            <a:ext cx="666117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Mentoria de negócios, 6/10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5900" y="606117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D7A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43100" y="5968210"/>
            <a:ext cx="396944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Protótipo funcional com IA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3100" y="6345829"/>
            <a:ext cx="396944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Disponível no QR, no celular de vocês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7350" y="2546896"/>
            <a:ext cx="7867650" cy="4476155"/>
          </a:xfrm>
          <a:prstGeom prst="roundRect">
            <a:avLst>
              <a:gd name="adj" fmla="val 5958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620250" y="2889796"/>
            <a:ext cx="3080742" cy="438150"/>
          </a:xfrm>
          <a:prstGeom prst="roundRect">
            <a:avLst>
              <a:gd name="adj" fmla="val 50000"/>
            </a:avLst>
          </a:prstGeom>
          <a:solidFill>
            <a:srgbClr val="FBF0D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91700" y="2943136"/>
            <a:ext cx="3202126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8A5A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PRÓXIMOS TESTES · MÉTRICA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9300" y="3537496"/>
            <a:ext cx="323850" cy="323850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38100">
            <a:solidFill>
              <a:srgbClr val="8A5A00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153650" y="3425482"/>
            <a:ext cx="5259154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Famílias pagam R$ 180–260 por consulta?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3650" y="3803100"/>
            <a:ext cx="525915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10 famílias · % que aceita o preço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9300" y="4385072"/>
            <a:ext cx="323850" cy="323850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38100">
            <a:solidFill>
              <a:srgbClr val="8A5A00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153650" y="4273058"/>
            <a:ext cx="617986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Técnicos de enfermagem topam 75% de repasse?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3650" y="4650676"/>
            <a:ext cx="617986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10 conversas · nº de cadastros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39300" y="5232648"/>
            <a:ext cx="323850" cy="323850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38100">
            <a:solidFill>
              <a:srgbClr val="8A5A00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53650" y="5120634"/>
            <a:ext cx="357456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RH oferece como benefício?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53650" y="5498253"/>
            <a:ext cx="3574569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3 conversas · interesse em piloto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9300" y="6080224"/>
            <a:ext cx="323850" cy="323850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38100">
            <a:solidFill>
              <a:srgbClr val="8A5A00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53650" y="5968210"/>
            <a:ext cx="600796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Agendar sem integração com convênio é viável?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3650" y="6345829"/>
            <a:ext cx="6007968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49"/>
              </a:lnSpc>
            </a:pPr>
            <a:r>
              <a:rPr b="0" sz="16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5 consultas reais · tempo e sucesso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6" name="Picture 35" descr="r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050196" y="9635490"/>
            <a:ext cx="29478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9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847473"/>
            <a:ext cx="10677525" cy="27283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803"/>
              </a:lnSpc>
            </a:pPr>
            <a:r>
              <a:rPr b="0" sz="6300" kern="100" spc="-94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Ninguém deveria ter que escolher entre </a:t>
            </a:r>
            <a:r>
              <a:rPr b="0" sz="6300" kern="100" spc="-94">
                <a:solidFill>
                  <a:srgbClr val="F0A27E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 trabalho</a:t>
            </a:r>
            <a:r>
              <a:rPr b="0" sz="6300" kern="100" spc="-94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e </a:t>
            </a:r>
            <a:r>
              <a:rPr b="0" sz="6300" kern="100" spc="-94">
                <a:solidFill>
                  <a:srgbClr val="F0A27E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 cuidado com os pais</a:t>
            </a:r>
            <a:r>
              <a:rPr b="0" sz="6300" kern="100" spc="-94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5733169"/>
            <a:ext cx="1192530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31"/>
              </a:lnSpc>
            </a:pPr>
            <a:r>
              <a:rPr b="0" sz="2550" kern="100">
                <a:solidFill>
                  <a:srgbClr val="D7ECEA"/>
                </a:solidFill>
                <a:latin typeface="Source Sans 3"/>
                <a:ea typeface="Source Sans 3"/>
                <a:cs typeface="Source Sans 3"/>
                <a:sym typeface="Source Sans 3"/>
              </a:rPr>
              <a:t>Zelo: a Zélia cuida do caminho. A família acompanha tudo.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6575272"/>
            <a:ext cx="10677525" cy="920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70"/>
              </a:lnSpc>
            </a:pPr>
            <a:r>
              <a:rPr b="0" sz="2550" kern="100">
                <a:solidFill>
                  <a:srgbClr val="FFFFFF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Próximo passo: piloto com 10 famílias em São Paulo e 3 empresas no Zelo Empresas.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44500" y="2950815"/>
            <a:ext cx="3429000" cy="3429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r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900" y="3103215"/>
            <a:ext cx="3124200" cy="3124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41874" y="6518690"/>
            <a:ext cx="2234104" cy="3526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76"/>
              </a:lnSpc>
            </a:pPr>
            <a:r>
              <a:rPr b="0" sz="1950" kern="100">
                <a:solidFill>
                  <a:srgbClr val="D7ECEA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Teste o Zelo 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98783" y="7071812"/>
            <a:ext cx="2520434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9"/>
              </a:lnSpc>
            </a:pPr>
            <a:r>
              <a:rPr b="1" sz="1650" kern="100">
                <a:solidFill>
                  <a:srgbClr val="F0A27E"/>
                </a:solidFill>
                <a:latin typeface="Source Sans 3"/>
                <a:ea typeface="Source Sans 3"/>
                <a:cs typeface="Source Sans 3"/>
                <a:sym typeface="Source Sans 3"/>
              </a:rPr>
              <a:t>zeloapp-mu.vercel.app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1" name="Picture 10" descr="r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28228" y="9635490"/>
            <a:ext cx="5048949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9CC9C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Semana Concentrada de Empreendedorismo FGV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760178" y="386715"/>
            <a:ext cx="281380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15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APÊNDICE · PERGUNTAS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OPERAÇÃO E PARCEIROS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43558"/>
            <a:ext cx="177927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Dois jeitos de ir à consulta. Parceiros certificados.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508796"/>
            <a:ext cx="7867650" cy="1946821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85900" y="2817749"/>
            <a:ext cx="809053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Acompanhante + carro por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3345613"/>
            <a:ext cx="71913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acompanhante Zelo vai até a casa e a Zélia chama um 99 ou Uber para os dois. Sem frota própria: escala rápido.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77350" y="2508796"/>
            <a:ext cx="7867650" cy="1946821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20250" y="2817749"/>
            <a:ext cx="809053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Acompanhante + motorista 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0" y="3345613"/>
            <a:ext cx="71913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Para cadeirantes e casos que pedem um motorista treinado, com espera incluída.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722316"/>
            <a:ext cx="7867650" cy="1946821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85900" y="5031269"/>
            <a:ext cx="809053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Requisitos da acompanhante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5559134"/>
            <a:ext cx="71913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Técnica de enfermagem com COREN ativo, ou cuidadora com curso. Antecedentes e referências verificados. Treinamento Zelo.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7350" y="4722316"/>
            <a:ext cx="7867650" cy="1946821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>
            <a:noFill/>
          </a:ln>
          <a:effectLst>
            <a:outerShdw blurRad="304800" dist="114300" dir="5400000" algn="ctr" rotWithShape="0">
              <a:srgbClr val="0F2B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20250" y="5031269"/>
            <a:ext cx="8090535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87"/>
              </a:lnSpc>
            </a:pPr>
            <a:r>
              <a:rPr b="0" sz="2550" kern="100" spc="-38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Requisitos do motorista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0" y="5559134"/>
            <a:ext cx="7191375" cy="731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35"/>
              </a:lnSpc>
            </a:pPr>
            <a:r>
              <a:rPr b="0" sz="202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CNH com EAR, antecedentes verificados e carro vistoriado, com porta-malas para cadeira de rodas. Treinamento Zelo.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9" name="Picture 18" descr="r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946761" y="9635490"/>
            <a:ext cx="408563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760178" y="386715"/>
            <a:ext cx="281380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15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APÊNDICE · PERGUNTAS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837438"/>
            <a:ext cx="17792700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DRE PRELIMINAR DE 3 ANOS (HIPÓTESES)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43558"/>
            <a:ext cx="177927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No azul a partir do ano 2, puxado pelo B2B.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470696"/>
            <a:ext cx="16002000" cy="5895975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ound Single Corner Rectangle 5"/>
          <p:cNvSpPr/>
          <p:nvPr/>
        </p:nvSpPr>
        <p:spPr>
          <a:xfrm rot="16200000">
            <a:off x="4449514" y="-835819"/>
            <a:ext cx="685800" cy="7298829"/>
          </a:xfrm>
          <a:prstGeom prst="round1Rect">
            <a:avLst>
              <a:gd name="adj" fmla="val 33333"/>
            </a:avLst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" y="313744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90650" y="2629878"/>
            <a:ext cx="7674382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25"/>
              </a:lnSpc>
            </a:pPr>
            <a:r>
              <a:rPr b="0" sz="210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R$ por 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8441829" y="2470696"/>
            <a:ext cx="3036689" cy="6858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441829" y="313744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44840" y="2629878"/>
            <a:ext cx="2986028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625"/>
              </a:lnSpc>
            </a:pPr>
            <a:r>
              <a:rPr b="0" sz="210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Ano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8518" y="2470696"/>
            <a:ext cx="2833092" cy="6858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478518" y="313744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301889" y="2629878"/>
            <a:ext cx="2762071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625"/>
              </a:lnSpc>
            </a:pPr>
            <a:r>
              <a:rPr b="0" sz="210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Ano 2</a:t>
            </a:r>
          </a:p>
        </p:txBody>
      </p:sp>
      <p:sp>
        <p:nvSpPr>
          <p:cNvPr id="15" name="Round Single Corner Rectangle 14"/>
          <p:cNvSpPr/>
          <p:nvPr/>
        </p:nvSpPr>
        <p:spPr>
          <a:xfrm>
            <a:off x="14311610" y="2470696"/>
            <a:ext cx="2833390" cy="685800"/>
          </a:xfrm>
          <a:prstGeom prst="round1Rect">
            <a:avLst>
              <a:gd name="adj" fmla="val 33333"/>
            </a:avLst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4311610" y="313744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4134951" y="2629878"/>
            <a:ext cx="2762399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625"/>
              </a:lnSpc>
            </a:pPr>
            <a:r>
              <a:rPr b="0" sz="210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Ano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88039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90650" y="3292132"/>
            <a:ext cx="7674382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Atendimentos por mês (média)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1829" y="388039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44840" y="329213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275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8518" y="388039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301889" y="329213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1.400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311610" y="388039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134951" y="329213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4.250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462334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90650" y="4035082"/>
            <a:ext cx="7674382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Funcionários cobertos (Zelo Empresas)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41829" y="462334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44840" y="403508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2.500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78518" y="462334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301889" y="403508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15 mil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311610" y="462334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4134951" y="403508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45 mil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536629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390650" y="4778032"/>
            <a:ext cx="7674382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Entradas totais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41829" y="536629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44840" y="477803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940 mil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78518" y="536629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1301889" y="477803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4,9 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311610" y="536629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4134951" y="477803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14,7 mi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610924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390650" y="5520982"/>
            <a:ext cx="7674382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Margem de contribuição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41829" y="610924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44840" y="552098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297 mil (32%)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78518" y="610924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1301889" y="552098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1,6 mi (33%)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311610" y="610924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4134951" y="552098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4,8 mi (33%)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685219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390650" y="6263932"/>
            <a:ext cx="7674382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Custos fixos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41829" y="685219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44840" y="626393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660 mil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78518" y="685219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1301889" y="626393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 mi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311610" y="685219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4134951" y="626393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2,5 mi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759514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390650" y="7006882"/>
            <a:ext cx="780187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1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EBIT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41829" y="759514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244840" y="700688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B42318"/>
                </a:solidFill>
                <a:latin typeface="Source Sans 3"/>
                <a:ea typeface="Source Sans 3"/>
                <a:cs typeface="Source Sans 3"/>
                <a:sym typeface="Source Sans 3"/>
              </a:rPr>
              <a:t>−369 mil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78518" y="759514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1301889" y="700688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1" sz="2100" kern="10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+147 mil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311610" y="759514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4134951" y="700688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1" sz="2100" kern="10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+2,2 mi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8338096"/>
            <a:ext cx="729882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390650" y="7749832"/>
            <a:ext cx="7674382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</a:pPr>
            <a:r>
              <a:rPr b="0" sz="2100" kern="100">
                <a:solidFill>
                  <a:srgbClr val="0F2B2A"/>
                </a:solidFill>
                <a:latin typeface="Source Sans 3"/>
                <a:ea typeface="Source Sans 3"/>
                <a:cs typeface="Source Sans 3"/>
                <a:sym typeface="Source Sans 3"/>
              </a:rPr>
              <a:t>EBIT acumulado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41829" y="8338096"/>
            <a:ext cx="3036689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244840" y="7749832"/>
            <a:ext cx="2986028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B42318"/>
                </a:solidFill>
                <a:latin typeface="Source Sans 3"/>
                <a:ea typeface="Source Sans 3"/>
                <a:cs typeface="Source Sans 3"/>
                <a:sym typeface="Source Sans 3"/>
              </a:rPr>
              <a:t>−369 mil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78518" y="8338096"/>
            <a:ext cx="2833092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1301889" y="7749832"/>
            <a:ext cx="2762071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0" sz="2100" kern="100">
                <a:solidFill>
                  <a:srgbClr val="B42318"/>
                </a:solidFill>
                <a:latin typeface="Source Sans 3"/>
                <a:ea typeface="Source Sans 3"/>
                <a:cs typeface="Source Sans 3"/>
                <a:sym typeface="Source Sans 3"/>
              </a:rPr>
              <a:t>−221 mil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311610" y="8338096"/>
            <a:ext cx="2833390" cy="1905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4134951" y="7749832"/>
            <a:ext cx="2762399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2990"/>
              </a:lnSpc>
            </a:pPr>
            <a:r>
              <a:rPr b="1" sz="2100" kern="100">
                <a:solidFill>
                  <a:srgbClr val="1D7A4B"/>
                </a:solidFill>
                <a:latin typeface="Source Sans 3"/>
                <a:ea typeface="Source Sans 3"/>
                <a:cs typeface="Source Sans 3"/>
                <a:sym typeface="Source Sans 3"/>
              </a:rPr>
              <a:t>+2,0 mi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000" y="9163425"/>
            <a:ext cx="17792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2"/>
              </a:lnSpc>
            </a:pPr>
            <a:r>
              <a:rPr b="0" sz="1575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Sem a mensalidade das empresas (R$ 5 por funcionário), o EBIT do ano 3 seria −257 mil. Premissas editáveis em docs/zelo-ebit-preliminar.xlsx.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7" name="Picture 76" descr="r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6946761" y="9635490"/>
            <a:ext cx="408563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352663" y="386715"/>
            <a:ext cx="2162071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15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APÊNDICE · 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01684"/>
            <a:ext cx="8810208" cy="333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63"/>
              </a:lnSpc>
            </a:pPr>
            <a:r>
              <a:rPr b="1" sz="1800" kern="100" spc="216">
                <a:solidFill>
                  <a:srgbClr val="0B6B7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PRÓXIMA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765944"/>
            <a:ext cx="7845623" cy="14324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280"/>
              </a:lnSpc>
            </a:pP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 </a:t>
            </a:r>
            <a:r>
              <a:rPr b="0" sz="4800" kern="100" spc="-72">
                <a:solidFill>
                  <a:srgbClr val="B453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Zélia</a:t>
            </a:r>
            <a:r>
              <a:rPr b="0" sz="4800" kern="100" spc="-72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também no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1005"/>
            <a:ext cx="7845623" cy="13733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70"/>
              </a:lnSpc>
            </a:pPr>
            <a:r>
              <a:rPr b="0" sz="255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O filho, ou o próprio idoso, conversa onde já está acostumado. Escolhe horário e pacote respondendo com um número.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6984504"/>
            <a:ext cx="3751213" cy="438150"/>
          </a:xfrm>
          <a:prstGeom prst="roundRect">
            <a:avLst>
              <a:gd name="adj" fmla="val 50000"/>
            </a:avLst>
          </a:prstGeom>
          <a:solidFill>
            <a:srgbClr val="FBF0D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14450" y="7037844"/>
            <a:ext cx="3939644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1" sz="1500" kern="100" spc="90">
                <a:solidFill>
                  <a:srgbClr val="8A5A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SIMULAÇÃO · INTEGRAÇÃO PREVISTA</a:t>
            </a:r>
          </a:p>
        </p:txBody>
      </p:sp>
      <p:pic>
        <p:nvPicPr>
          <p:cNvPr id="8" name="Picture 7" descr="zelia-whatsap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998" y="514350"/>
            <a:ext cx="5454551" cy="9334500"/>
          </a:xfrm>
          <a:prstGeom prst="rect">
            <a:avLst/>
          </a:prstGeom>
        </p:spPr>
      </p:pic>
      <p:pic>
        <p:nvPicPr>
          <p:cNvPr id="9" name="Picture 8" descr="zelia-whatsapp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2949" y="514350"/>
            <a:ext cx="5454551" cy="933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62100" y="9632671"/>
            <a:ext cx="739423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7"/>
              </a:lnSpc>
            </a:pPr>
            <a:r>
              <a:rPr b="0" sz="1950" kern="100">
                <a:solidFill>
                  <a:srgbClr val="0F2B2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zelo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9639300"/>
            <a:ext cx="323850" cy="323850"/>
          </a:xfrm>
          <a:prstGeom prst="roundRect">
            <a:avLst>
              <a:gd name="adj" fmla="val 29411"/>
            </a:avLst>
          </a:prstGeom>
          <a:solidFill>
            <a:srgbClr val="0B6B7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r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969645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46761" y="9635490"/>
            <a:ext cx="408563" cy="2712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36"/>
              </a:lnSpc>
            </a:pPr>
            <a:r>
              <a:rPr b="0" sz="1500" kern="100">
                <a:solidFill>
                  <a:srgbClr val="4A62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Zelo · pitch</dc:title>
  <dc:subject/>
  <dc:creator>Equipe Zelo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